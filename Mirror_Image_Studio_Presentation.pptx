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السلام عليكم، أهلاً بكم.</a:t>
            </a:r>
          </a:p>
          <a:p>
            <a:r>
              <a:t>اليوم نعرض مشروعنا: «مرآة» — استوديو صور متقدم يعمل عبر الويب.</a:t>
            </a:r>
          </a:p>
          <a:p>
            <a:r>
              <a:t>هو محرر صور يحاكي المحررات الشهيرة، مبني على واجهة Frontend وواجهة Python Backend.</a:t>
            </a:r>
          </a:p>
          <a:p>
            <a:r>
              <a:t>خلال هذا العرض سنشرح فكرة المشروع، طريقة بنائه تقنياً، كيف يتواصل الواجهتان، وكيف تُعالج الصور، ثم نقوم بعرض عملي مباشر.</a:t>
            </a:r>
          </a:p>
          <a:p>
            <a:r>
              <a:t>سنحوّل العرض ليكون مفهوماً حتى لمن لا يعرف البرمجة، ثم نتعمق تقنياً في الأجزاء المهمة.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الفكرة الأساسية بسيطة: المستخدم يرفع صورة، ويختار عملية من القائمة، فيحصل على النتيجة مباشرة.</a:t>
            </a:r>
          </a:p>
          <a:p>
            <a:r>
              <a:t>هذا المشروع ليس مجرد أداة، بل هو تطبيق عملي لموضوع «معالجة الصور الرقمية».</a:t>
            </a:r>
          </a:p>
          <a:p>
            <a:r>
              <a:t>نحن نأخذ مفاهيم المحاضرات — مثل تحسين الألوان، الفلاتر، كشف الحواف — ونحوّلها إلى أزرار يضغطها المستخدم ليرى النتيجة أمامه.</a:t>
            </a:r>
          </a:p>
          <a:p>
            <a:r>
              <a:t>يتميّز المشروع بواجهة عربية كاملة، ولا يحتاج تسجيل دخول ولا قاعدة بيانات، فكل شيء يعمل محلياً على الجهاز.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المشكلة التي يعالجها المشروع: برامج تحرير الصور الحقيقية معقدة ومكلفة، وتعليمها يستغرق وقتاً طويلاً.</a:t>
            </a:r>
          </a:p>
          <a:p>
            <a:r>
              <a:t>أيضاً، مفاهيم معالجة الصور نظرياً يصعب تخيّل أثرها دون رؤيتها.</a:t>
            </a:r>
          </a:p>
          <a:p>
            <a:r>
              <a:t>الحل الذي نقدمه: محرر ويب مبسّط، كل عملية فيه زر واحد.</a:t>
            </a:r>
          </a:p>
          <a:p>
            <a:r>
              <a:t>فبدل تعلم فوتوشوب، يضغط المستخدم زر «أبيض وأسود» أو «إزالة الخلفية» فيرى النتيجة فوراً.</a:t>
            </a:r>
          </a:p>
          <a:p>
            <a:r>
              <a:t>وبالنسبة للطالب، يرى أثر كل خوارزمية بعينه، وهذا يربط النظرية بالتطبيق.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الوظائف كلها موجودة فعلاً في الكود، وقسمناها إلى ست مجموعات.</a:t>
            </a:r>
          </a:p>
          <a:p>
            <a:r>
              <a:t>أولاً التحويل بين الصيغ وتحسين الجودة.</a:t>
            </a:r>
          </a:p>
          <a:p>
            <a:r>
              <a:t>ثانياً العمليات الهندسية: القص، التكبير والتصغير، التدوير، القلب، الإطار.</a:t>
            </a:r>
          </a:p>
          <a:p>
            <a:r>
              <a:t>ثالثاً تحسينات البكسل مثل الإضاءة والتباين والتشبع و Gamma.</a:t>
            </a:r>
          </a:p>
          <a:p>
            <a:r>
              <a:t>رابعاً فلاتر التنعيم والتحديد، وتشمل الفلاتر الخطية وغير الخطية والنواة المخصصة.</a:t>
            </a:r>
          </a:p>
          <a:p>
            <a:r>
              <a:t>خامساً كشف الحواف مثل Laplacian و Sobel و Canny.</a:t>
            </a:r>
          </a:p>
          <a:p>
            <a:r>
              <a:t>وسادساً الميزات المتقدمة: إزالة الخلفية، الدمج، خلفيات المنتجات، الرسم، والمؤثرات الفنية.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معمارية المشروع الحقيقية.</a:t>
            </a:r>
          </a:p>
          <a:p>
            <a:r>
              <a:t>المستخدم يتفاعل مع المتصفح، والواجهة هي ملف index.html.</a:t>
            </a:r>
          </a:p>
          <a:p>
            <a:r>
              <a:t>عند طلب عملية، ترسل الواجهة طلب HTTP عبر JSON، والصورة تُرسل كنص Base64.</a:t>
            </a:r>
          </a:p>
          <a:p>
            <a:r>
              <a:t>في الخادم Python، نستقبل الصورة ونعالجها عبر دوال الخوارزميات، ثم نعيد النتيجة إلى الواجهة.</a:t>
            </a:r>
          </a:p>
          <a:p>
            <a:r>
              <a:t>نقطة مهمة: لا توجد قاعدة بيانات، ولا تسجيل دخول، فكل شيء يعمل في الذاكرة.</a:t>
            </a:r>
          </a:p>
          <a:p>
            <a:r>
              <a:t>المكتبات المستخدمة هي Pillow و NumPy مع خادم http.server القياسي.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التقنيات المستخدمة كلها موجودة فعلاً في الكود.</a:t>
            </a:r>
          </a:p>
          <a:p>
            <a:r>
              <a:t>الواجهة مبنية بـ HTML و CSS و JavaScript خام، ومن دون أي إطار عمل جاهز.</a:t>
            </a:r>
          </a:p>
          <a:p>
            <a:r>
              <a:t>الخادم مكتوب بـ Python باستخدام مكتبة http.server القياسية، أي بدون Flask أو Django.</a:t>
            </a:r>
          </a:p>
          <a:p>
            <a:r>
              <a:t>الخادم يستخدم مكتبتين مهمتين: Pillow للتعامل مع الصور، و NumPy للعمليات الحسابية مثل الالتفاف.</a:t>
            </a:r>
          </a:p>
          <a:p>
            <a:r>
              <a:t>التواصل بين الواجهة والخادم يتم عبر fetch ومعيار JSON.</a:t>
            </a:r>
          </a:p>
          <a:p>
            <a:r>
              <a:t>ملاحظة: في الكود يوجد خيار لمكتبة rembg الذكاء الاصطناعي، لكنه غير مفعّل وغير مثبّت، فيُستخدم بديله الخفيف تلقائياً.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لقطة حقيقية من الواجهة وهي تعمل.</a:t>
            </a:r>
          </a:p>
          <a:p>
            <a:r>
              <a:t>الشاشة مقسّمة إلى ثلاثة أقسام:</a:t>
            </a:r>
          </a:p>
          <a:p>
            <a:r>
              <a:t>يسار: لوحة «المعالجة والتحسين والتنعيم»، وتحتوي تبويبات للبكسلات والفلاتر والحواف.</a:t>
            </a:r>
          </a:p>
          <a:p>
            <a:r>
              <a:t>وسط: منطقة عرض الصورة، ويمكن السحب والإفلات لرفع صورة.</a:t>
            </a:r>
          </a:p>
          <a:p>
            <a:r>
              <a:t>يمين: لوحة «العمليات الأخرى»، وفيها تبويبات للهندسة والتحويل وإزالة الخلفية والرسم، بالإضافة إلى قسمي «الدمج» و«الميزات الإبداعية».</a:t>
            </a:r>
          </a:p>
          <a:p>
            <a:r>
              <a:t>أسفل الشاشة: شريط حالة يعرض اسم الصورة وحالة العملية.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رحلة المستخدم الحقيقية.</a:t>
            </a:r>
          </a:p>
          <a:p>
            <a:r>
              <a:t>أولاً يفتح الموقع عبر تشغيل app.py.</a:t>
            </a:r>
          </a:p>
          <a:p>
            <a:r>
              <a:t>ثم يرفع صورة بالسحب والإفلات أو عبر زر الفتح.</a:t>
            </a:r>
          </a:p>
          <a:p>
            <a:r>
              <a:t>ثم يختار أداة من إحدى اللوحتين.</a:t>
            </a:r>
          </a:p>
          <a:p>
            <a:r>
              <a:t>ويضبط الخيارات من المنزلقات.</a:t>
            </a:r>
          </a:p>
          <a:p>
            <a:r>
              <a:t>ثم يضغط زر التنفيذ فيرسل الطلب للخادم.</a:t>
            </a:r>
          </a:p>
          <a:p>
            <a:r>
              <a:t>الخادم يعالج الصورة عبر دوال Pillow و NumPy.</a:t>
            </a:r>
          </a:p>
          <a:p>
            <a:r>
              <a:t>ثم تعود النتيجة وتظهر على الكانفس.</a:t>
            </a:r>
          </a:p>
          <a:p>
            <a:r>
              <a:t>وأخيراً يضغط زر التنزيل ليحفظ الصورة بصيغته المختارة.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الواجهة الأمامية كلها في ملف واحد اسمه index.html.</a:t>
            </a:r>
          </a:p>
          <a:p>
            <a:r>
              <a:t>فيه بناء الصفحة بـ HTML و CSS، وكل منطق التفاعل مكتوب بـ JavaScript داخل وسم script.</a:t>
            </a:r>
          </a:p>
          <a:p>
            <a:r>
              <a:t>المتصفح يعرض الصورة على عنصر Canvas، ويقرأ الصورة المرفوعة عبر FileReader.</a:t>
            </a:r>
          </a:p>
          <a:p>
            <a:r>
              <a:t>أهم دالة هي processImage، وهي التي ترسل العملية للخادم.</a:t>
            </a:r>
          </a:p>
          <a:p>
            <a:r>
              <a:t>كما يوجد كائن state يدير الصورة الحالية والأصلية ومكدسي التراجع والإعادة.</a:t>
            </a:r>
          </a:p>
          <a:p>
            <a:r>
              <a:t>هذا المقتطف الحقيقي يوضح الإرسال: يتحقق من وجود صورة، يرسل الطلب كـ JSON إلى /api/process، يستقبل النتيجة، وإذا نجح يعرضها، وإذا فشل يعرض رسالة خطأ.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الواجهة الخلفية في ملف app.py.</a:t>
            </a:r>
          </a:p>
          <a:p>
            <a:r>
              <a:t>وهي بدون إطار عمل: تستخدم http.server القياسي.</a:t>
            </a:r>
          </a:p>
          <a:p>
            <a:r>
              <a:t>نقطة الدخول هي main التي تشغّل خادماً متعدد الخيوط.</a:t>
            </a:r>
          </a:p>
          <a:p>
            <a:r>
              <a:t>كل الطلبات تتعامل معها الكلاس ImageEditorHandler.</a:t>
            </a:r>
          </a:p>
          <a:p>
            <a:r>
              <a:t>المسارات تشمل الصفحة الرئيسية، وفحص الحالة، وقائمة الخلفيات، وخدمة ملفات الخلفيات.</a:t>
            </a:r>
          </a:p>
          <a:p>
            <a:r>
              <a:t>وأهم مسار هو /api/process الذي يعالج الصور.</a:t>
            </a:r>
          </a:p>
          <a:p>
            <a:r>
              <a:t>هذا المقتطف يوضح استقبال الطلب: يقرأ حجم الطلب، يتحقق أنه ضمن الحد، يقرأ JSON، يستدعي process لمعالجة الصورة، ثم يعيد النتيجة.</a:t>
            </a:r>
          </a:p>
          <a:p>
            <a:r>
              <a:t>وإذا حدث خطأ، يعيده برمز مناسب: 400 لأخطاء المستخدم، و500 لأخطاء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أهم شريحة في العرض: كيف يتواصل الواجهتان وتمر الصورة.</a:t>
            </a:r>
          </a:p>
          <a:p>
            <a:r>
              <a:t>في الواجهة، تُخزن الصورة كـ dataURL داخل state.current.</a:t>
            </a:r>
          </a:p>
          <a:p>
            <a:r>
              <a:t>عند العملية، يُرسل طلب POST إلى /api/process، والجسم JSON يحتوي الصورة واسم العملية.</a:t>
            </a:r>
          </a:p>
          <a:p>
            <a:r>
              <a:t>في الخادم، الدالة decode_data_url تفك النص إلى صورة RGBA.</a:t>
            </a:r>
          </a:p>
          <a:p>
            <a:r>
              <a:t>ثم process يوجّه العملية بالاسم op إلى الخوارزمية المناسبة.</a:t>
            </a:r>
          </a:p>
          <a:p>
            <a:r>
              <a:t>تنجز الخوارزمية عملها وتعيد الصورة الجديدة.</a:t>
            </a:r>
          </a:p>
          <a:p>
            <a:r>
              <a:t>ثم encode_data_url تحولها من جديد إلى dataURL.</a:t>
            </a:r>
          </a:p>
          <a:p>
            <a:r>
              <a:t>وتعود الحزمة إلى الواجهة، التي تعرضها عبر commitData على الكانفس.</a:t>
            </a:r>
          </a:p>
          <a:p>
            <a:r>
              <a:t>إذن الصورة تنتقل ذهاباً وإياباً كنص Base64، والخادم هو مكان المعالجة الفعلية.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هنا نرى نتائج معالجة الصور عملياً.</a:t>
            </a:r>
          </a:p>
          <a:p>
            <a:r>
              <a:t>هذه لقطة حقيقية بعد تطبيق خوارزمية Canny لكشف الحواف.</a:t>
            </a:r>
          </a:p>
          <a:p>
            <a:r>
              <a:t>لاحظ أن الحواف — الدائرة والمستطيل — ظهرت بوضوح على خلفية سوداء.</a:t>
            </a:r>
          </a:p>
          <a:p>
            <a:r>
              <a:t>جمال المشروع أنه يجعل الخوارزميات النظرية ملموسة.</a:t>
            </a:r>
          </a:p>
          <a:p>
            <a:r>
              <a:t>فالمستخدم يدرس فكرة «كشف الحواف» في المحاضرة، ثم يضغط زر Canny فيرى الأثر مباشرة.</a:t>
            </a:r>
          </a:p>
          <a:p>
            <a:r>
              <a:t>نفس الشيء مع الفلاتر وتحسينات الألوان وإزالة الخلفية.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لو سألني أحد عن أهم أجزاء الكود، هذه أربعة أجزاء تفسّر المشروع.</a:t>
            </a:r>
          </a:p>
          <a:p>
            <a:r>
              <a:t>أولاً دالة process: هي الموجّه، تستقبل اسم العملية وتستدعي الخوارزمية المناسبة، فلو فهمتها فهمت ترابط النظام.</a:t>
            </a:r>
          </a:p>
          <a:p>
            <a:r>
              <a:t>ثانياً دالة apply_canny: كُتبت من الصفر بأربع مراحل، تنعيم غاوسي، ثم Sobel لحساب التدرج، ثم قمع غير أقصى لتخفيف الحواف، ثم ربط العتبات.</a:t>
            </a:r>
          </a:p>
          <a:p>
            <a:r>
              <a:t>ثالثاً دالة remove_background_simple: تزيل الخلفية عبر خوارزمية الملء الفيضي اللوني.</a:t>
            </a:r>
          </a:p>
          <a:p>
            <a:r>
              <a:t>ورابعاً نظام state والتراجع/الإعادة في الواجهة، الذي يدير الصورة ويسمح بالرجوع للأصلية.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ما الذي تحقق فعلاً؟</a:t>
            </a:r>
          </a:p>
          <a:p>
            <a:r>
              <a:t>الخادم يعمل، وكل عمليات المحرر تعمل، وخوارزميات المحاضرات الخمس مطبّقة.</a:t>
            </a:r>
          </a:p>
          <a:p>
            <a:r>
              <a:t>وقد تحققنا بأنفسنا أن Canny يكتشف الحواف فعلاً.</a:t>
            </a:r>
          </a:p>
          <a:p>
            <a:r>
              <a:t>أما الحدود والنواقص:</a:t>
            </a:r>
          </a:p>
          <a:p>
            <a:r>
              <a:t>لا توجد قاعدة بيانات ولا حفظ دائم، ولا مصادقة، وهذا مقبول محلياً.</a:t>
            </a:r>
          </a:p>
          <a:p>
            <a:r>
              <a:t>إزالة الخلفية الخفيفة تنجح مع الخلفيات المتجانسة فقط.</a:t>
            </a:r>
          </a:p>
          <a:p>
            <a:r>
              <a:t>هناك بطء في حلقات حساب Canny مع الصور الكبيرة.</a:t>
            </a:r>
          </a:p>
          <a:p>
            <a:r>
              <a:t>كما وجدنا خطأً شكلياً في عرض أبعاد الصورة، ودالة np_from معرّفة لكن غير مستخدمة.</a:t>
            </a:r>
          </a:p>
          <a:p>
            <a:r>
              <a:t>هذه ملاحظات صادقة من التحليل، ليست معلومات مخترعة.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نقاط القوة: بساطة التشغيل بملفين فقط، وواجهة عربية سهلة، وتغطية شاملة للمنهج، وفصل نظيف بين الاتصال والمعالجة، وميزات مفيدة فعلاً.</a:t>
            </a:r>
          </a:p>
          <a:p>
            <a:r>
              <a:t>التطوير المستقبلي المنطقي: إصلاح خطأ عرض الأبعاد، وتفكيك ملف app.py الكبير إلى وحدات، وتحويل دالة process إلى قاموس يسهّل إضافة عمليات جديدة.</a:t>
            </a:r>
          </a:p>
          <a:p>
            <a:r>
              <a:t>أيضاً تسريع الالتفاف باستخدام مكتبة أكثر كفاءة، وإضافة طبقات ومقارنة قبل وبعد، ودعم ذكاء اصطناعي حقيقي لإزالة الخلفية.</a:t>
            </a:r>
          </a:p>
          <a:p>
            <a:r>
              <a:t>هذه مقترحات متوافقة مع طبيعة المشروع ولا تناقضه.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نهاية العرض.</a:t>
            </a:r>
          </a:p>
          <a:p>
            <a:r>
              <a:t>شكراً لحسن استماعكم.</a:t>
            </a:r>
          </a:p>
          <a:p>
            <a:r>
              <a:t>إذا كانت لديكم أسئلة، أنا مستعد للرد.</a:t>
            </a:r>
          </a:p>
          <a:p>
            <a:r>
              <a:t>وللتجربة، المشروع يعمل بسهولة: تشغّل python app.py ثم تفتح المتصفح على http://localhost:8000.</a:t>
            </a:r>
          </a:p>
          <a:p>
            <a:r>
              <a:t>شكراً مجدداً.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-1097280"/>
            <a:ext cx="5486400" cy="3657600"/>
          </a:xfrm>
          <a:prstGeom prst="rect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005840" cy="100584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7111D"/>
                </a:solidFill>
                <a:latin typeface="Tahoma"/>
                <a:cs typeface="Tahoma"/>
                <a:ea typeface="Tahoma"/>
              </a:rPr>
              <a:t>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801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مِرآة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استوديو الصور المتقدم  |  Mirror Image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651760"/>
            <a:ext cx="3" cy="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01752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محرر صور احترافي يعمل عبر الويب — واجهة Frontend وواجهة Python Backend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مشروع معالجة الصور الرقمية (Digital Image Processing)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المقرر: معالجة الصور الرقمية · قسم تقنية المعلومات (IT4)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93776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إعداد: فريق المشروع (١–٣ أعضاء)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عرض تقديمي · تحليل تقني شامل · عرض عملي (Demo)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فكرة المشروع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ما هو؟ · ما الهدف؟ · ماذا يفعل؟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120640" cy="448056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0" cy="448056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المفهوم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572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أداة ويب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لتحرير الصور بضغطة زر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المبدأ: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أدخل صورة → اختر عملية → احصل على النتيجة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تعليمي وعملي: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يطبّق خوارزميات معالجة الصور الرقمية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واجهة عربية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كاملة وسهلة الاستخدام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لا يحتاج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تسجيل دخول أو قاعدة بيانات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▸ لقطة حقيقية من المشروع (بعد رفع صورة)</a:t>
            </a:r>
          </a:p>
        </p:txBody>
      </p:sp>
      <p:pic>
        <p:nvPicPr>
          <p:cNvPr id="10" name="Picture 9" descr="shot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95144"/>
            <a:ext cx="5760720" cy="3456432"/>
          </a:xfrm>
          <a:prstGeom prst="rect">
            <a:avLst/>
          </a:prstGeom>
          <a:ln w="12700">
            <a:solidFill>
              <a:srgbClr val="2A3C5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2/16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المشكلة والحل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لماذا هذا المشروع مفيد؟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429768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297680"/>
          </a:xfrm>
          <a:prstGeom prst="rect">
            <a:avLst/>
          </a:prstGeom>
          <a:solidFill>
            <a:srgbClr val="FF7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المشكلة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برامج التحرير الاحترافية 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معقّدة ومكلفة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تعلمها 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يستغرق شهوراً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المفاهيم النظرية 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للمعالجة صعبة التخيّل بلا تجربة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26080"/>
            <a:ext cx="731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5029200" cy="429768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645920"/>
            <a:ext cx="0" cy="429768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755648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الحل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44805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محرر ويب مبسّط 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بأشهر العمليات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كل عملية = زر واحد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بضغطة واحدة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أمثلة مباشرة 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لأفكار الخوارزميات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خلفيات منتجات + إزالة خلفية </a:t>
            </a:r>
            <a:r>
              <a:rPr sz="14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جاهزة للتسويق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3/16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وظائف المشروع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أهم ما يستطيع المستخدم فعله (موجود فعلاً في الكود)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2103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0" cy="21031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التحويل والصيغ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PNG / JPG / WEBP / BMP / GIF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ضبط جودة الحفظ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657600" cy="2103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0" cy="21031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العمليات الهندسية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95728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قص Crop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تكبير/تصغير Resize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تدوير Rotate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قلب Flip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إطار Border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657600" cy="2103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0" cy="2103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4708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تحسينات البكسل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395728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إضاءة / تباين / تشبع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Gamma · HSV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أبيض وأسود · عكس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Negative · Log · تسوية هيستوغرام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3657600" cy="2103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0" cy="2103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788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فلاتر التنعيم والتحديد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727448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Mean · Gaussian (خطي)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Median (غير خطي)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نواة مخصصة Custom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Sharpen · Unsharp · Emboss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069080"/>
            <a:ext cx="3657600" cy="2103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069080"/>
            <a:ext cx="0" cy="210312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1788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كشف الحواف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727448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Laplacian · Laplacian Edge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Difference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Sobel (X/Y/مقدار)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Canny (من الصفر)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69080"/>
            <a:ext cx="3657600" cy="2103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69080"/>
            <a:ext cx="0" cy="210312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41788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إبداعية ومتقدمة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727448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إزالة الخلفية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دمج صورتين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مكتبة خلفيات منتجات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رسم + نص + مؤثرات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4/16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المعمارية Architecture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بنية Client–Server حقيقية من المشروع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417320"/>
            <a:ext cx="3200400" cy="868680"/>
          </a:xfrm>
          <a:prstGeom prst="rect">
            <a:avLst/>
          </a:prstGeom>
          <a:solidFill>
            <a:srgbClr val="1B2944"/>
          </a:solidFill>
          <a:ln w="19050">
            <a:solidFill>
              <a:srgbClr val="CB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المستخدم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0136" y="2286000"/>
            <a:ext cx="292608" cy="256032"/>
          </a:xfrm>
          <a:prstGeom prst="rect">
            <a:avLst/>
          </a:prstGeom>
          <a:solidFill>
            <a:srgbClr val="C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286000"/>
            <a:ext cx="3200400" cy="868680"/>
          </a:xfrm>
          <a:prstGeom prst="rect">
            <a:avLst/>
          </a:prstGeom>
          <a:solidFill>
            <a:srgbClr val="1B2944"/>
          </a:solidFill>
          <a:ln w="1905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المتصفح — الواجهة Frontend (index.html)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0136" y="3154680"/>
            <a:ext cx="292608" cy="256032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3154680"/>
            <a:ext cx="3200400" cy="868680"/>
          </a:xfrm>
          <a:prstGeom prst="rect">
            <a:avLst/>
          </a:prstGeom>
          <a:solidFill>
            <a:srgbClr val="1B2944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HTTP / JSON / Data-URLs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0136" y="4023360"/>
            <a:ext cx="292608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023359"/>
            <a:ext cx="3200400" cy="868680"/>
          </a:xfrm>
          <a:prstGeom prst="rect">
            <a:avLst/>
          </a:prstGeom>
          <a:solidFill>
            <a:srgbClr val="1B2944"/>
          </a:solidFill>
          <a:ln w="19050">
            <a:solidFill>
              <a:srgbClr val="55D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خادم Python — app.py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0136" y="4892039"/>
            <a:ext cx="292608" cy="256032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892040"/>
            <a:ext cx="3200400" cy="868680"/>
          </a:xfrm>
          <a:prstGeom prst="rect">
            <a:avLst/>
          </a:prstGeom>
          <a:solidFill>
            <a:srgbClr val="1B2944"/>
          </a:solidFill>
          <a:ln w="19050">
            <a:solidFill>
              <a:srgbClr val="FF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معالجة الصور (process + دوال الخوارزميات)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0136" y="5760720"/>
            <a:ext cx="292608" cy="256032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5760720"/>
            <a:ext cx="3200400" cy="868680"/>
          </a:xfrm>
          <a:prstGeom prst="rect">
            <a:avLst/>
          </a:prstGeom>
          <a:solidFill>
            <a:srgbClr val="1B2944"/>
          </a:solidFill>
          <a:ln w="19050">
            <a:solidFill>
              <a:srgbClr val="55D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النتيجة → Base64 → الواجهة → العرض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3172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ملاحظات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3383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لا قاعدة بيانات: </a:t>
            </a:r>
            <a:r>
              <a:rPr sz="12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كل شيء في الذاكرة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لا مصادقة: </a:t>
            </a:r>
            <a:r>
              <a:rPr sz="12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مقبول محلياً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مكتبات: </a:t>
            </a:r>
            <a:r>
              <a:rPr sz="12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Pillow + NumPy + http.server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الواجهة </a:t>
            </a:r>
            <a:r>
              <a:rPr sz="12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HTML/CSS/JS خام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5/16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التقنيات المستخدمة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كل تقنية مذكورة موجودة فعلاً في المشروع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29768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أدوات البناء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04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304288"/>
            <a:ext cx="0" cy="9601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HTML5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بناء هيكل الواجهة والأزرار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79" y="2304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79" y="2304288"/>
            <a:ext cx="0" cy="9601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414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CSS3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التصميم والتبويبات والمظهر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8" y="2304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8" y="2304288"/>
            <a:ext cx="0" cy="9601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2414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JavaScript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منطق الواجهة والتفاعل وإرسال الطلبات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47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447288"/>
            <a:ext cx="0" cy="96012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57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Python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قاعدة الخادم وكل معالجة الصور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79" y="3447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79" y="3447288"/>
            <a:ext cx="0" cy="96012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3557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http.server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خادم HTTP قياسي (بلا إطار عمل)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8" y="3447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18" y="3447288"/>
            <a:ext cx="0" cy="96012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3557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Pillow / PIL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فتح وتحرير وحفظ الصور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90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590288"/>
            <a:ext cx="0" cy="96012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00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NumPy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العمليات الحسابية والالتفاف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79" y="4590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26279" y="4590288"/>
            <a:ext cx="0" cy="960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700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Canvas API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عرض الصورة والرسم داخل المتصفح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8" y="4590288"/>
            <a:ext cx="3520440" cy="960120"/>
          </a:xfrm>
          <a:prstGeom prst="rect">
            <a:avLst/>
          </a:prstGeom>
          <a:solidFill>
            <a:srgbClr val="1B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8" y="4590288"/>
            <a:ext cx="0" cy="960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8" y="4700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fetch / JSON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التواصل بين الواجهة والخادم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ملاحظة: توجد مكتبة rembg مذكورة كخيار ذكاء اصطناعي اختياري، لكنها غير مفعّلة وغير مثبّتة — يُستخدم البديل الخفيف تلقائياً.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6/16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واجهة المستخدم UI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لقطات حقيقية من المشروع الجاري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الشاشة مقسّمة إلى: لوحة المعالجة (يسار) · منطقة الصورة (وسط) · لوحة العمليات (يمين)</a:t>
            </a:r>
          </a:p>
        </p:txBody>
      </p:sp>
      <p:pic>
        <p:nvPicPr>
          <p:cNvPr id="6" name="Picture 5" descr="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60" y="2011680"/>
            <a:ext cx="7467600" cy="4480560"/>
          </a:xfrm>
          <a:prstGeom prst="rect">
            <a:avLst/>
          </a:prstGeom>
          <a:ln w="12700">
            <a:solidFill>
              <a:srgbClr val="2A3C5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7/16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رحلة المستخدم User Flow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كيف يستخدم المستخدم المشروع خطوة بخطوة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1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فتح الموقع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تشغيل app.py ثم المتصفح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996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2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رفع الصورة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سحب وإفلات أو زر فتح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728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3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اختيار أداة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من لوحة المعالجة أو العمليات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460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4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ضبط الخيارات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منزلقات وقيم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5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تنفيذ العملية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إرسال الطلب للخادم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6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معالجة الصورة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دوال Pillow و NumPy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656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7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عرض النتيجة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تظهر على الكانفس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33888" y="2743200"/>
            <a:ext cx="91440" cy="2743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52760" y="2148840"/>
            <a:ext cx="1298448" cy="1600200"/>
          </a:xfrm>
          <a:prstGeom prst="rect">
            <a:avLst/>
          </a:prstGeom>
          <a:solidFill>
            <a:srgbClr val="1B294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8</a:t>
            </a:r>
          </a:p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حفظ / تنزيل</a:t>
            </a:r>
          </a:p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زر التنزيل بصيغة مختارة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1155680" cy="201168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0" cy="201168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224528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ماذا يحدث في الحالات غير الطبيعية؟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73168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ننفي أولاً: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إن ضغط زر عمليات بلا صورة يظهر «افتح صورة أولاً» ولا يتلف شيء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ملف غير صالح: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الخادم يرفضه ويعيد «لم تصل صورة صالحة»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حجم مبالغ: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تُرفض الطلبات فوق 64 ميجابايت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أثناء المعالجة: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تظهر «جارٍ المعالجة…» وتُقفل أزرار التنفيذ مؤقتاً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8/16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الواجهة الأمامية Frontend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ملف index.html — كل المنطق داخل وسم &lt;script&gt;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760720" cy="4389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389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212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الملف الوحيد: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index.html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HTML/CSS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بناء الأزرار والتبويبات والتصميم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JavaScript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منطق التفاعل كاملاً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Canvas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عرض الصورة والرسم المباشر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FileReader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قراءة الصورة المرفوعة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fetch()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إرسال الطلبات للخادم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state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كائن يدير الصورة + التراجع/الإعادة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history/future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مكدسّا التراجع والإعادة (بحد 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مقتطف حقيقي من الكود — إرسال طلب العملية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5303520" cy="3840480"/>
          </a:xfrm>
          <a:prstGeom prst="rect">
            <a:avLst/>
          </a:prstGeom>
          <a:solidFill>
            <a:srgbClr val="0D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async function processImage(op, extra = {}){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if(!hasImage()){ toast("افتح صورة أولاً", true); return; }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setBusy(true);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const body = { op, image: state.current, ...extra };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const res = await fetch("/api/process", 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method:"POST",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headers:{"Content-Type":"application/json"},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body: JSON.stringify(body)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const out = await res.json();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if(!out.ok) throw new Error(out.error);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await commitData(out.data, "تم تطبيق: " + op);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} catch(e){ toast(e.message||"حدث خطأ", true); }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finally { setBusy(false); }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9/16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الواجهة الخلفية Python Backend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ملف app.py — الخوارزميات + الخادم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760720" cy="438912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38912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212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framework: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http.server القياسي (بلا Flask)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الدخول: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main() → ThreadingHTTPServer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الكلاس: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ImageEditorHandler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Routes: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/ · /api/health · /api/backgrounds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API: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/api/process (POST) + /backgrounds/&lt;name&gt; (GET)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process(payload):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الموجّه الرئيسي للعمليات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دوال معالجة: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apply_canny, blend_images, remove_background...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encode/decode: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تحويل الصور base64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مقتطف حقيقي — استقبال الطلب ومعالجته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5303520" cy="3840480"/>
          </a:xfrm>
          <a:prstGeom prst="rect">
            <a:avLst/>
          </a:prstGeom>
          <a:solidFill>
            <a:srgbClr val="0D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try: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length = int(self.headers.get("Content-Length","0"))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if length &lt;= 0 or length &gt; MAX_BODY: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  self.send_json({"ok":False,"error":"حجم الطلب كبير جداً"},413)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  return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payload = json.loads(self.rfile.read(length).decode("utf-8"))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result, output_format = process(payload)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data = encode_data_url(result, output_format, payload.get("quality",92))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self.send_json({"ok":True,"data":data,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              "width":result.width,"height":result.height})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except ValueError as exc: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self.send_json({"ok":False,"error":str(exc)},400)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except Exception as exc: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self.send_json({"ok":False,"error":str(exc)},500)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10/16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التواصل Frontend ↔ Backend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رحلة الطلب الكاملة + انتقال الصورة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الواجهة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7830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state.current (dataURL)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2032" y="2194560"/>
            <a:ext cx="146304" cy="109728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304288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POST /api/process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5000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JSON: {image, op, ...}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2761488"/>
            <a:ext cx="146304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871216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FF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decode_data_url()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1693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dataURL → Image (RGBA)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3328416"/>
            <a:ext cx="146304" cy="109728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438144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5D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process(payload)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8386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توجيه العملية بالاسم 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42032" y="3895344"/>
            <a:ext cx="146304" cy="109728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005072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5D6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دالة الخوارزمية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5079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apply_* / blend / remove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2032" y="4462272"/>
            <a:ext cx="146304" cy="109728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572000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FF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encode_data_url()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Image → dataURL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42032" y="5029200"/>
            <a:ext cx="146304" cy="109728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5138928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JSON {data, width, height}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8464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يرجع إلى الواجهة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42032" y="5596128"/>
            <a:ext cx="146304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5705856"/>
            <a:ext cx="3200400" cy="457200"/>
          </a:xfrm>
          <a:prstGeom prst="rect">
            <a:avLst/>
          </a:prstGeom>
          <a:solidFill>
            <a:srgbClr val="1B2944"/>
          </a:solidFill>
          <a:ln w="12700">
            <a:solidFill>
              <a:srgbClr val="57D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commitData()-&gt;canvas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75157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عرض النتيجة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11/16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معالجة الصور Image Processing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أمثلة حقيقية — Input → Processing →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لقطة حقيقية: تطبيق خوارزمية Canny (كشف الحواف) على صورة مرفوعة</a:t>
            </a:r>
          </a:p>
        </p:txBody>
      </p:sp>
      <p:pic>
        <p:nvPicPr>
          <p:cNvPr id="6" name="Picture 5" descr="shot_can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0" y="2103120"/>
            <a:ext cx="7162800" cy="4297680"/>
          </a:xfrm>
          <a:prstGeom prst="rect">
            <a:avLst/>
          </a:prstGeom>
          <a:ln w="12700">
            <a:solidFill>
              <a:srgbClr val="2A3C5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12/16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أهم أجزاء الكود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4 أجزاء تفسّر طريقة عمل المشروع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035040" cy="448056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48056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4864" cy="914400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process(payload)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الموجّه الرئيسي — يقرأ op ويستدعي الخوارزمية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62072"/>
            <a:ext cx="54864" cy="91440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apply_canny()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كشف حواف من الصفر: غاوسي→Sobel→NMS→Hysteresis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41064"/>
            <a:ext cx="54864" cy="9144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remove_background_simple()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إزالة الخلفية عبر Flood-Fill لوني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0056"/>
            <a:ext cx="54864" cy="91440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38344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state + undo/redo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إدارة الحالة والتراجع في الواجهة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86B"/>
                </a:solidFill>
                <a:latin typeface="Tahoma"/>
                <a:cs typeface="Tahoma"/>
                <a:ea typeface="Tahoma"/>
              </a:rPr>
              <a:t>مقتطف حقيقي — apply_canny() (من الصفر)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103120"/>
            <a:ext cx="5029200" cy="3840480"/>
          </a:xfrm>
          <a:prstGeom prst="rect">
            <a:avLst/>
          </a:prstGeom>
          <a:solidFill>
            <a:srgbClr val="0D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gray = grayscale_array(image)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smooth = GaussianBlur(gray)      # 1) تنعيم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sx, sy = sobel(smooth)           # 2) تدرج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mag = sqrt(sx**2 + sy**2)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ang = degrees(arctan2(sy,sx))%180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# 3) Non-Maximum Suppression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for y in range(1,h-1):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for x in range(1,w-1):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if mag[y,x] &gt;= neighbors: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        nms[y,x]=mag[y,x]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# 4) Hysteresis (ربط الحواف)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# يتتبع الحواف الضعيفة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CBD5E8"/>
                </a:solidFill>
                <a:latin typeface="Consolas"/>
                <a:cs typeface="Consolas"/>
                <a:ea typeface="Consolas"/>
              </a:rPr>
              <a:t># المتصلة بحافة قوية عبر deque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13/16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النتائج والتحديات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ما الذي تحقق؟ وما حدود المشروع وما النواقص؟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77840" cy="448056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48056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ما تم إنجازه فعلاً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خادم HTTP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يعمل ويعالج الطلبات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كل عمليات المحرر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تعمل (تحققنا بنفسنا)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خوارزميات المحاضرات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الخمس مطبّقة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Canny يكتشف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الحواف فعلاً (أثبتناه بلقطة)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واجهة عربية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تعمل بضغطة زر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94960" cy="448056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0" cy="4480560"/>
          </a:xfrm>
          <a:prstGeom prst="rect">
            <a:avLst/>
          </a:prstGeom>
          <a:solidFill>
            <a:srgbClr val="FF7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55648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الحدود والنواقص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04288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لا قاعدة بيانات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ولا حفظ دائم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لا مصادقة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ولا صلاحيات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إزالة الخلفية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الخفيفة تنجح مع الخلفيات المتجانسة فقط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بطء في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الحلقات للـ Canny على الصور الكبيرة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صفخة أبعاد الصورة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لا تُعرض (خطأ في updateMeta)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FF79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25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دالة np_from </a:t>
            </a:r>
            <a:r>
              <a:rPr sz="125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معرّفة لكن غير مستخدمة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14/16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" cy="0"/>
          </a:xfrm>
          <a:prstGeom prst="rect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الخاتمة والتطوير المستقبلي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نقاط القوة · ما يمكن إضافته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77840" cy="448056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0" cy="4480560"/>
          </a:xfrm>
          <a:prstGeom prst="rect">
            <a:avLst/>
          </a:prstGeom>
          <a:solidFill>
            <a:srgbClr val="55D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نقاط القوة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بساطة التشغيل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(ملفان فقط)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واجهة عربية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سهلة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تغطية شاملة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لمنهج معالجة الصور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فصل نظيف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بين الاتصال والمعالجة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5D6A4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ميزات حقيقية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مفيدة للتسويق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94960" cy="448056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0" cy="4480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55648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تطويرات مستقبلية منطقية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04288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إصلاح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خطأ عرض الأبعاد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تفكيك app.py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إلى وحدات منفصلة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تحويل process()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إلى قاموس OPS قابل للتوسع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تسريع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الالتفاف بمكتبة متجهة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إضافة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طبقات Layers ومقارنة قبل/بعد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A78BFA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3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دعم </a:t>
            </a:r>
            <a:r>
              <a:rPr sz="1300" b="0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AI حقيقي لإزالة الخلفية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15/16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6B8C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7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EDF3FF"/>
                </a:solidFill>
                <a:latin typeface="Tahoma"/>
                <a:cs typeface="Tahoma"/>
                <a:ea typeface="Tahoma"/>
              </a:rPr>
              <a:t>شكراً لحسن الاستماع</a:t>
            </a:r>
          </a:p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57D4F2"/>
                </a:solidFill>
                <a:latin typeface="Tahoma"/>
                <a:cs typeface="Tahoma"/>
                <a:ea typeface="Tahoma"/>
              </a:rPr>
              <a:t>أسئلة وتعليقات؟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مِرآة — استوديو الصور المتقدم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CBD5E8"/>
                </a:solidFill>
                <a:latin typeface="Tahoma"/>
                <a:cs typeface="Tahoma"/>
                <a:ea typeface="Tahoma"/>
              </a:rPr>
              <a:t>لِتجربة المشروع</a:t>
            </a:r>
          </a:p>
          <a:p>
            <a:pPr algn="ctr">
              <a:spcAft>
                <a:spcPts val="300"/>
              </a:spcAft>
            </a:pPr>
            <a:r>
              <a:rPr sz="1200">
                <a:solidFill>
                  <a:srgbClr val="95A4BF"/>
                </a:solidFill>
                <a:latin typeface="Consolas"/>
              </a:rPr>
              <a:t>python app.py</a:t>
            </a:r>
          </a:p>
          <a:p>
            <a:pPr algn="ctr">
              <a:spcAft>
                <a:spcPts val="300"/>
              </a:spcAft>
            </a:pPr>
            <a:r>
              <a:rPr sz="1200">
                <a:solidFill>
                  <a:srgbClr val="95A4BF"/>
                </a:solidFill>
                <a:latin typeface="Consolas"/>
              </a:rPr>
              <a:t>open the browser at http://localhost:8000</a:t>
            </a:r>
          </a:p>
          <a:p>
            <a:pPr algn="ctr">
              <a:spcAft>
                <a:spcPts val="300"/>
              </a:spcAft>
            </a:pPr>
            <a:r>
              <a:rPr sz="1200">
                <a:solidFill>
                  <a:srgbClr val="95A4BF"/>
                </a:solidFill>
                <a:latin typeface="Consolas"/>
              </a:rPr>
              <a:t>run: pip install pillow numpy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5A4BF"/>
                </a:solidFill>
                <a:latin typeface="Tahoma"/>
                <a:cs typeface="Tahoma"/>
                <a:ea typeface="Tahoma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